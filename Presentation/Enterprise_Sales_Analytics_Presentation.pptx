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67" r:id="rId14"/>
    <p:sldId id="268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14" d="100"/>
          <a:sy n="114" d="100"/>
        </p:scale>
        <p:origin x="-936" y="1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18872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5A5A5A"/>
                </a:solidFill>
              </a:rPr>
              <a:t>Business Intelligence &amp; Operational Reporting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36576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5A5A"/>
                </a:solidFill>
              </a:defRPr>
            </a:pPr>
            <a:r>
              <a:t>Prepared By: Rohit.P.B.</a:t>
            </a:r>
          </a:p>
          <a:p>
            <a:pPr algn="ctr">
              <a:defRPr sz="1300">
                <a:solidFill>
                  <a:srgbClr val="5A5A5A"/>
                </a:solidFill>
              </a:defRPr>
            </a:pPr>
            <a:r>
              <a:t>Email: rohitpb17@gmail.com</a:t>
            </a:r>
          </a:p>
          <a:p>
            <a:pPr algn="ctr">
              <a:defRPr sz="1300">
                <a:solidFill>
                  <a:srgbClr val="5A5A5A"/>
                </a:solidFill>
              </a:defRPr>
            </a:pPr>
            <a:r>
              <a:t>Phone: +91-9400278146</a:t>
            </a:r>
          </a:p>
          <a:p>
            <a:pPr algn="ctr">
              <a:defRPr sz="1300">
                <a:solidFill>
                  <a:srgbClr val="5A5A5A"/>
                </a:solidFill>
              </a:defRPr>
            </a:pPr>
            <a:r>
              <a:t>LinkedIn: linkedin.com/in/rohit-p-b-a04b87369</a:t>
            </a:r>
          </a:p>
          <a:p>
            <a:pPr algn="ctr">
              <a:defRPr sz="1300">
                <a:solidFill>
                  <a:srgbClr val="5A5A5A"/>
                </a:solidFill>
              </a:defRPr>
            </a:pPr>
            <a:r>
              <a:t>Medium: medium.com/@rohitpb17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7315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End-to-end enterprise sales analytics workflow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Built using Excel, Power Query, </a:t>
            </a:r>
            <a:r>
              <a:rPr dirty="0" err="1"/>
              <a:t>Dockerized</a:t>
            </a:r>
            <a:r>
              <a:rPr dirty="0"/>
              <a:t> MySQL, SQL, and Tableau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Focused on KPI reporting and dashboard-driven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263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Business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7315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Fragmented operational sales data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Delayed KPI visibility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Inconsistent reporting workflows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Difficulty identifying high-performing regions and products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263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7315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Power Query ETL workflow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</a:t>
            </a:r>
            <a:r>
              <a:rPr dirty="0" err="1"/>
              <a:t>Dockerized</a:t>
            </a:r>
            <a:r>
              <a:rPr dirty="0"/>
              <a:t> MySQL integration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SQL-based KPI analytics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Tableau dashboard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263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6809493" cy="1477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Develop </a:t>
            </a:r>
            <a:r>
              <a:rPr dirty="0"/>
              <a:t>enterprise analytics workflow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Implement </a:t>
            </a:r>
            <a:r>
              <a:rPr dirty="0"/>
              <a:t>SQL KPI reporting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Create </a:t>
            </a:r>
            <a:r>
              <a:rPr dirty="0"/>
              <a:t>Tableau dashboards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Demonstrate </a:t>
            </a:r>
            <a:r>
              <a:rPr dirty="0"/>
              <a:t>end-to-end analytics integration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dirty="0" smtClean="0">
                <a:solidFill>
                  <a:srgbClr val="5A5A5A"/>
                </a:solidFill>
              </a:rPr>
              <a:t>Perform </a:t>
            </a:r>
            <a:r>
              <a:rPr dirty="0">
                <a:solidFill>
                  <a:srgbClr val="5A5A5A"/>
                </a:solidFill>
              </a:rPr>
              <a:t>advanced analytics including forecasting and trend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263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dirty="0">
                <a:solidFill>
                  <a:srgbClr val="5A5A5A"/>
                </a:solidFill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7315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Microsoft Excel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Power Query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</a:t>
            </a:r>
            <a:r>
              <a:rPr dirty="0" err="1"/>
              <a:t>Docker</a:t>
            </a:r>
            <a:r>
              <a:rPr dirty="0"/>
              <a:t> Desktop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MySQL &amp; SQL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Tableau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/>
              <a:t>• </a:t>
            </a:r>
            <a:r>
              <a:rPr dirty="0" err="1"/>
              <a:t>GitHub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263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Initial Analysis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7850354" cy="1477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dirty="0" smtClean="0"/>
              <a:t>Regional </a:t>
            </a:r>
            <a:r>
              <a:rPr dirty="0"/>
              <a:t>sales variations identified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dirty="0" smtClean="0"/>
              <a:t>Monthly </a:t>
            </a:r>
            <a:r>
              <a:rPr dirty="0"/>
              <a:t>trends analyzed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dirty="0" smtClean="0"/>
              <a:t>Category </a:t>
            </a:r>
            <a:r>
              <a:rPr dirty="0"/>
              <a:t>profitability evaluated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dirty="0" smtClean="0"/>
              <a:t>Top-performing </a:t>
            </a:r>
            <a:r>
              <a:rPr dirty="0"/>
              <a:t>products identified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dirty="0">
                <a:solidFill>
                  <a:srgbClr val="5A5A5A"/>
                </a:solidFill>
              </a:rPr>
              <a:t>Pareto product contribution analysis identified major revenue-driving products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263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Key Performance Indicators (KPIs)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44491"/>
            <a:ext cx="3616567" cy="20313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Total </a:t>
            </a:r>
            <a:r>
              <a:rPr dirty="0"/>
              <a:t>Revenue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Total </a:t>
            </a:r>
            <a:r>
              <a:rPr dirty="0"/>
              <a:t>Profit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Average </a:t>
            </a:r>
            <a:r>
              <a:rPr dirty="0"/>
              <a:t>Profit Margin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Regional </a:t>
            </a:r>
            <a:r>
              <a:rPr dirty="0"/>
              <a:t>Sales Performance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Monthly </a:t>
            </a:r>
            <a:r>
              <a:rPr dirty="0"/>
              <a:t>Sales Trends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dirty="0" smtClean="0">
                <a:solidFill>
                  <a:srgbClr val="5A5A5A"/>
                </a:solidFill>
              </a:rPr>
              <a:t>Top </a:t>
            </a:r>
            <a:r>
              <a:rPr dirty="0">
                <a:solidFill>
                  <a:srgbClr val="5A5A5A"/>
                </a:solidFill>
              </a:rPr>
              <a:t>Product Revenue Contribution</a:t>
            </a:r>
          </a:p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smtClean="0">
                <a:solidFill>
                  <a:srgbClr val="5A5A5A"/>
                </a:solidFill>
              </a:rPr>
              <a:t> </a:t>
            </a:r>
            <a:r>
              <a:rPr lang="en-US" smtClean="0">
                <a:solidFill>
                  <a:srgbClr val="5A5A5A"/>
                </a:solidFill>
              </a:rPr>
              <a:t> </a:t>
            </a:r>
            <a:r>
              <a:rPr smtClean="0">
                <a:solidFill>
                  <a:srgbClr val="5A5A5A"/>
                </a:solidFill>
              </a:rPr>
              <a:t>Payment </a:t>
            </a:r>
            <a:r>
              <a:rPr dirty="0">
                <a:solidFill>
                  <a:srgbClr val="5A5A5A"/>
                </a:solidFill>
              </a:rPr>
              <a:t>Mode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263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Workflow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263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0478" y="1645920"/>
            <a:ext cx="2909258" cy="3693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Excel Raw Dataset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↓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Power Query ETL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↓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Cleaned Dataset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↓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 err="1">
                <a:solidFill>
                  <a:srgbClr val="003366"/>
                </a:solidFill>
              </a:rPr>
              <a:t>Dockerized</a:t>
            </a:r>
            <a:r>
              <a:rPr b="1" dirty="0">
                <a:solidFill>
                  <a:srgbClr val="003366"/>
                </a:solidFill>
              </a:rPr>
              <a:t> MySQL Database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↓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SQL Reporting and Analytics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↓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Advanced Analytics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↓</a:t>
            </a:r>
          </a:p>
          <a:p>
            <a:pPr algn="ctr">
              <a:defRPr sz="1800" b="1">
                <a:solidFill>
                  <a:srgbClr val="003366"/>
                </a:solidFill>
              </a:defRPr>
            </a:pPr>
            <a:r>
              <a:rPr b="1" dirty="0">
                <a:solidFill>
                  <a:srgbClr val="003366"/>
                </a:solidFill>
              </a:rPr>
              <a:t>Tableau KPI Dashboard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SQL Analytics &amp;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3821752" cy="175432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Regional </a:t>
            </a:r>
            <a:r>
              <a:rPr dirty="0"/>
              <a:t>Sales Analysis</a:t>
            </a:r>
          </a:p>
          <a:p>
            <a:pPr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Monthly </a:t>
            </a:r>
            <a:r>
              <a:rPr dirty="0"/>
              <a:t>Revenue Trends</a:t>
            </a:r>
          </a:p>
          <a:p>
            <a:pPr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Category </a:t>
            </a:r>
            <a:r>
              <a:rPr dirty="0"/>
              <a:t>Profitability Analysis</a:t>
            </a:r>
          </a:p>
          <a:p>
            <a:pPr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Product </a:t>
            </a:r>
            <a:r>
              <a:rPr dirty="0"/>
              <a:t>Performance Analysis</a:t>
            </a:r>
          </a:p>
          <a:p>
            <a:pPr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dirty="0" smtClean="0">
                <a:solidFill>
                  <a:srgbClr val="5A5A5A"/>
                </a:solidFill>
              </a:rPr>
              <a:t>Forecast </a:t>
            </a:r>
            <a:r>
              <a:rPr dirty="0">
                <a:solidFill>
                  <a:srgbClr val="5A5A5A"/>
                </a:solidFill>
              </a:rPr>
              <a:t>Analysis</a:t>
            </a:r>
          </a:p>
          <a:p>
            <a:pPr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dirty="0" smtClean="0">
                <a:solidFill>
                  <a:srgbClr val="5A5A5A"/>
                </a:solidFill>
              </a:rPr>
              <a:t>Pareto </a:t>
            </a:r>
            <a:r>
              <a:rPr dirty="0">
                <a:solidFill>
                  <a:srgbClr val="5A5A5A"/>
                </a:solidFill>
              </a:rPr>
              <a:t>Product Contribution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263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Tableau Dashboard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3320524" cy="175432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92075" indent="-92075"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Regional </a:t>
            </a:r>
            <a:r>
              <a:rPr dirty="0" smtClean="0"/>
              <a:t>Sales Dashboard</a:t>
            </a:r>
          </a:p>
          <a:p>
            <a:pPr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Monthly </a:t>
            </a:r>
            <a:r>
              <a:rPr dirty="0" smtClean="0"/>
              <a:t>Sales Trends</a:t>
            </a:r>
          </a:p>
          <a:p>
            <a:pPr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Category </a:t>
            </a:r>
            <a:r>
              <a:rPr dirty="0" smtClean="0"/>
              <a:t>Profitability Reporting</a:t>
            </a:r>
          </a:p>
          <a:p>
            <a:pPr>
              <a:buFont typeface="Arial" pitchFamily="34" charset="0"/>
              <a:buChar char="•"/>
              <a:defRPr sz="1800">
                <a:solidFill>
                  <a:srgbClr val="5A5A5A"/>
                </a:solidFill>
              </a:defRPr>
            </a:pPr>
            <a:r>
              <a:rPr lang="en-US" dirty="0" smtClean="0"/>
              <a:t> </a:t>
            </a:r>
            <a:r>
              <a:rPr lang="en-US" dirty="0" smtClean="0"/>
              <a:t> </a:t>
            </a:r>
            <a:r>
              <a:rPr dirty="0" smtClean="0"/>
              <a:t>KPI </a:t>
            </a:r>
            <a:r>
              <a:rPr dirty="0" smtClean="0"/>
              <a:t>Visualization</a:t>
            </a:r>
          </a:p>
          <a:p>
            <a:pPr>
              <a:buFont typeface="Arial" pitchFamily="34" charset="0"/>
              <a:buChar char="•"/>
            </a:pP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dirty="0" smtClean="0">
                <a:solidFill>
                  <a:srgbClr val="5A5A5A"/>
                </a:solidFill>
              </a:rPr>
              <a:t>Forecast </a:t>
            </a:r>
            <a:r>
              <a:rPr dirty="0" smtClean="0">
                <a:solidFill>
                  <a:srgbClr val="5A5A5A"/>
                </a:solidFill>
              </a:rPr>
              <a:t>Trend Visualization</a:t>
            </a:r>
          </a:p>
          <a:p>
            <a:pPr>
              <a:buFont typeface="Arial" pitchFamily="34" charset="0"/>
              <a:buChar char="•"/>
            </a:pP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dirty="0" smtClean="0">
                <a:solidFill>
                  <a:srgbClr val="5A5A5A"/>
                </a:solidFill>
              </a:rPr>
              <a:t>Product </a:t>
            </a:r>
            <a:r>
              <a:rPr dirty="0" smtClean="0">
                <a:solidFill>
                  <a:srgbClr val="5A5A5A"/>
                </a:solidFill>
              </a:rPr>
              <a:t>Contribution Analysis</a:t>
            </a:r>
            <a:endParaRPr dirty="0">
              <a:solidFill>
                <a:srgbClr val="5A5A5A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263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2400" b="1" dirty="0">
                <a:solidFill>
                  <a:srgbClr val="1F4E79"/>
                </a:solidFill>
                <a:latin typeface="+mn-lt"/>
                <a:ea typeface="+mn-ea"/>
                <a:cs typeface="+mn-cs"/>
              </a:rPr>
              <a:t>Dashboard &amp; Analytics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/>
            <a:r>
              <a:rPr lang="en-US" sz="1800" dirty="0" smtClean="0">
                <a:solidFill>
                  <a:srgbClr val="5A5A5A"/>
                </a:solidFill>
              </a:rPr>
              <a:t> </a:t>
            </a:r>
            <a:r>
              <a:rPr sz="1800" dirty="0" smtClean="0">
                <a:solidFill>
                  <a:srgbClr val="5A5A5A"/>
                </a:solidFill>
              </a:rPr>
              <a:t>Tableau KPI Dashboard</a:t>
            </a:r>
            <a:r>
              <a:rPr lang="en-US" sz="1800" dirty="0" smtClean="0">
                <a:solidFill>
                  <a:srgbClr val="5A5A5A"/>
                </a:solidFill>
              </a:rPr>
              <a:t> </a:t>
            </a:r>
          </a:p>
          <a:p>
            <a:pPr marL="0" indent="0">
              <a:tabLst>
                <a:tab pos="0" algn="l"/>
              </a:tabLst>
            </a:pPr>
            <a:r>
              <a:rPr lang="en-US" sz="1800" dirty="0" smtClean="0">
                <a:solidFill>
                  <a:srgbClr val="5A5A5A"/>
                </a:solidFill>
              </a:rPr>
              <a:t> </a:t>
            </a:r>
            <a:r>
              <a:rPr sz="1800" dirty="0" smtClean="0">
                <a:solidFill>
                  <a:srgbClr val="5A5A5A"/>
                </a:solidFill>
              </a:rPr>
              <a:t>Sales </a:t>
            </a:r>
            <a:r>
              <a:rPr sz="1800" dirty="0">
                <a:solidFill>
                  <a:srgbClr val="5A5A5A"/>
                </a:solidFill>
              </a:rPr>
              <a:t>Forecast Analysis</a:t>
            </a:r>
          </a:p>
          <a:p>
            <a:pPr marL="0" indent="0"/>
            <a:r>
              <a:rPr lang="en-US" sz="1800" dirty="0" smtClean="0">
                <a:solidFill>
                  <a:srgbClr val="5A5A5A"/>
                </a:solidFill>
              </a:rPr>
              <a:t> </a:t>
            </a:r>
            <a:r>
              <a:rPr sz="1800" dirty="0" smtClean="0">
                <a:solidFill>
                  <a:srgbClr val="5A5A5A"/>
                </a:solidFill>
              </a:rPr>
              <a:t>Pareto </a:t>
            </a:r>
            <a:r>
              <a:rPr sz="1800" dirty="0">
                <a:solidFill>
                  <a:srgbClr val="5A5A5A"/>
                </a:solidFill>
              </a:rPr>
              <a:t>Product Contribution Analysis</a:t>
            </a:r>
          </a:p>
          <a:p>
            <a:pPr marL="0" indent="0"/>
            <a:r>
              <a:rPr lang="en-US" sz="1800" dirty="0" smtClean="0">
                <a:solidFill>
                  <a:srgbClr val="5A5A5A"/>
                </a:solidFill>
              </a:rPr>
              <a:t> </a:t>
            </a:r>
            <a:r>
              <a:rPr sz="1800" dirty="0" smtClean="0">
                <a:solidFill>
                  <a:srgbClr val="5A5A5A"/>
                </a:solidFill>
              </a:rPr>
              <a:t>Regional </a:t>
            </a:r>
            <a:r>
              <a:rPr sz="1800" dirty="0">
                <a:solidFill>
                  <a:srgbClr val="5A5A5A"/>
                </a:solidFill>
              </a:rPr>
              <a:t>&amp; Category Profitability Insights</a:t>
            </a:r>
          </a:p>
          <a:p>
            <a:pPr marL="0" indent="0"/>
            <a:r>
              <a:rPr lang="en-US" sz="1800" dirty="0" smtClean="0">
                <a:solidFill>
                  <a:srgbClr val="5A5A5A"/>
                </a:solidFill>
              </a:rPr>
              <a:t> </a:t>
            </a:r>
            <a:r>
              <a:rPr sz="1800" dirty="0" smtClean="0">
                <a:solidFill>
                  <a:srgbClr val="5A5A5A"/>
                </a:solidFill>
              </a:rPr>
              <a:t>Operational </a:t>
            </a:r>
            <a:r>
              <a:rPr sz="1800" dirty="0">
                <a:solidFill>
                  <a:srgbClr val="5A5A5A"/>
                </a:solidFill>
              </a:rPr>
              <a:t>KPI Reporting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rPr>
                <a:solidFill>
                  <a:srgbClr val="1F4E79"/>
                </a:solidFill>
              </a:rPr>
              <a:t>Enterprise Sales &amp; Operational Analytics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rPr sz="1000">
                <a:solidFill>
                  <a:srgbClr val="595959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31611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rPr b="1" dirty="0" smtClean="0">
                <a:solidFill>
                  <a:srgbClr val="808080"/>
                </a:solidFill>
              </a:rPr>
              <a:t>1</a:t>
            </a:r>
            <a:r>
              <a:rPr lang="en-US" b="1" dirty="0" smtClean="0">
                <a:solidFill>
                  <a:srgbClr val="808080"/>
                </a:solidFill>
              </a:rPr>
              <a:t>2</a:t>
            </a:r>
            <a:endParaRPr b="1" dirty="0">
              <a:solidFill>
                <a:srgbClr val="80808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</a:rPr>
              <a:t>Business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364394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rPr dirty="0" smtClean="0"/>
              <a:t>•</a:t>
            </a:r>
            <a:r>
              <a:rPr lang="en-US" dirty="0" smtClean="0"/>
              <a:t> </a:t>
            </a:r>
            <a:r>
              <a:rPr dirty="0" smtClean="0"/>
              <a:t>Improved </a:t>
            </a:r>
            <a:r>
              <a:rPr dirty="0"/>
              <a:t>operational visibility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 smtClean="0"/>
              <a:t>•</a:t>
            </a:r>
            <a:r>
              <a:rPr lang="en-US" dirty="0" smtClean="0"/>
              <a:t> </a:t>
            </a:r>
            <a:r>
              <a:rPr dirty="0" smtClean="0"/>
              <a:t>Faster </a:t>
            </a:r>
            <a:r>
              <a:rPr dirty="0"/>
              <a:t>KPI reporting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 smtClean="0"/>
              <a:t>•</a:t>
            </a:r>
            <a:r>
              <a:rPr lang="en-US" dirty="0" smtClean="0"/>
              <a:t> </a:t>
            </a:r>
            <a:r>
              <a:rPr dirty="0" smtClean="0"/>
              <a:t>Better </a:t>
            </a:r>
            <a:r>
              <a:rPr dirty="0"/>
              <a:t>profitability monitoring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 dirty="0" smtClean="0"/>
              <a:t>•</a:t>
            </a:r>
            <a:r>
              <a:rPr lang="en-US" dirty="0" smtClean="0"/>
              <a:t> </a:t>
            </a:r>
            <a:r>
              <a:rPr dirty="0" smtClean="0"/>
              <a:t>Enhanced </a:t>
            </a:r>
            <a:r>
              <a:rPr dirty="0"/>
              <a:t>decision-making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7808" y="6263640"/>
            <a:ext cx="31611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dirty="0" smtClean="0">
                <a:solidFill>
                  <a:srgbClr val="5A5A5A"/>
                </a:solidFill>
              </a:rPr>
              <a:t>1</a:t>
            </a:r>
            <a:r>
              <a:rPr lang="en-US" sz="1000" dirty="0" smtClean="0">
                <a:solidFill>
                  <a:srgbClr val="5A5A5A"/>
                </a:solidFill>
              </a:rPr>
              <a:t>3</a:t>
            </a:r>
            <a:endParaRPr sz="1000" dirty="0">
              <a:solidFill>
                <a:srgbClr val="5A5A5A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366"/>
                </a:solidFill>
              </a:rPr>
              <a:t>Enterprise Sales &amp; Operational Analytics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003366"/>
                </a:solidFill>
              </a:rPr>
              <a:t>Conclusion &amp; 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6808595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 smtClean="0">
                <a:solidFill>
                  <a:srgbClr val="5A5A5A"/>
                </a:solidFill>
              </a:rPr>
              <a:t>•</a:t>
            </a: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dirty="0" smtClean="0">
                <a:solidFill>
                  <a:srgbClr val="5A5A5A"/>
                </a:solidFill>
              </a:rPr>
              <a:t>Successful </a:t>
            </a:r>
            <a:r>
              <a:rPr dirty="0">
                <a:solidFill>
                  <a:srgbClr val="5A5A5A"/>
                </a:solidFill>
              </a:rPr>
              <a:t>enterprise analytics workflow implementation</a:t>
            </a:r>
          </a:p>
          <a:p>
            <a:r>
              <a:rPr dirty="0" smtClean="0">
                <a:solidFill>
                  <a:srgbClr val="5A5A5A"/>
                </a:solidFill>
              </a:rPr>
              <a:t>•</a:t>
            </a:r>
            <a:r>
              <a:rPr lang="en-US" dirty="0" smtClean="0">
                <a:solidFill>
                  <a:srgbClr val="5A5A5A"/>
                </a:solidFill>
              </a:rPr>
              <a:t> </a:t>
            </a:r>
            <a:r>
              <a:rPr dirty="0" smtClean="0">
                <a:solidFill>
                  <a:srgbClr val="5A5A5A"/>
                </a:solidFill>
              </a:rPr>
              <a:t>Improved </a:t>
            </a:r>
            <a:r>
              <a:rPr dirty="0">
                <a:solidFill>
                  <a:srgbClr val="5A5A5A"/>
                </a:solidFill>
              </a:rPr>
              <a:t>KPI visibility and reporting</a:t>
            </a:r>
          </a:p>
          <a:p>
            <a:r>
              <a:rPr smtClean="0">
                <a:solidFill>
                  <a:srgbClr val="5A5A5A"/>
                </a:solidFill>
              </a:rPr>
              <a:t>•</a:t>
            </a:r>
            <a:r>
              <a:rPr lang="en-US" smtClean="0">
                <a:solidFill>
                  <a:srgbClr val="5A5A5A"/>
                </a:solidFill>
              </a:rPr>
              <a:t> </a:t>
            </a:r>
            <a:r>
              <a:rPr smtClean="0">
                <a:solidFill>
                  <a:srgbClr val="5A5A5A"/>
                </a:solidFill>
              </a:rPr>
              <a:t>Future </a:t>
            </a:r>
            <a:r>
              <a:rPr dirty="0">
                <a:solidFill>
                  <a:srgbClr val="5A5A5A"/>
                </a:solidFill>
              </a:rPr>
              <a:t>enhancements include ETL automation, Power BI integration, </a:t>
            </a:r>
            <a:endParaRPr lang="en-US" dirty="0" smtClean="0">
              <a:solidFill>
                <a:srgbClr val="5A5A5A"/>
              </a:solidFill>
            </a:endParaRPr>
          </a:p>
          <a:p>
            <a:r>
              <a:rPr lang="en-US" dirty="0" smtClean="0">
                <a:solidFill>
                  <a:srgbClr val="5A5A5A"/>
                </a:solidFill>
              </a:rPr>
              <a:t>   </a:t>
            </a:r>
            <a:r>
              <a:rPr dirty="0" smtClean="0">
                <a:solidFill>
                  <a:srgbClr val="5A5A5A"/>
                </a:solidFill>
              </a:rPr>
              <a:t>and </a:t>
            </a:r>
            <a:r>
              <a:rPr dirty="0">
                <a:solidFill>
                  <a:srgbClr val="5A5A5A"/>
                </a:solidFill>
              </a:rPr>
              <a:t>advanced forecasting analytics.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309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</a:rPr>
              <a:t>Confidential • For Internal &amp; Portfolio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7808" y="6263640"/>
            <a:ext cx="31611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dirty="0" smtClean="0">
                <a:solidFill>
                  <a:srgbClr val="5A5A5A"/>
                </a:solidFill>
              </a:rPr>
              <a:t>1</a:t>
            </a:r>
            <a:r>
              <a:rPr lang="en-US" sz="1000" dirty="0" smtClean="0">
                <a:solidFill>
                  <a:srgbClr val="5A5A5A"/>
                </a:solidFill>
              </a:rPr>
              <a:t>4</a:t>
            </a:r>
            <a:endParaRPr sz="1000" dirty="0">
              <a:solidFill>
                <a:srgbClr val="5A5A5A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557</Words>
  <Application>Microsoft Office PowerPoint</Application>
  <PresentationFormat>On-screen Show (4:3)</PresentationFormat>
  <Paragraphs>131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Dashboard &amp; Analytics Visualizations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dc:description>generated using python-pptx</dc:description>
  <cp:lastModifiedBy>user</cp:lastModifiedBy>
  <cp:revision>7</cp:revision>
  <dcterms:created xsi:type="dcterms:W3CDTF">2013-01-27T09:14:16Z</dcterms:created>
  <dcterms:modified xsi:type="dcterms:W3CDTF">2026-07-06T04:18:42Z</dcterms:modified>
</cp:coreProperties>
</file>